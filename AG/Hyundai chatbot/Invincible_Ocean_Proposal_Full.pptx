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SALES 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Technical Solution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D2FF"/>
                </a:solidFill>
              </a:defRPr>
            </a:pPr>
            <a:r>
              <a:t>By Invincible Ocean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002C5F"/>
                </a:solidFill>
              </a:defRPr>
            </a:pPr>
            <a:r>
              <a:t>1.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The AI Sales Buddy is an intelligent assistant embedded in the LMS and H-Smart App.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Empower Sales Consultants with instant product knowledge.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Provide real-time competitive intelligence.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Support 6 Indian languages natively.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Deliver coaching and objection handling on the fly.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C5F"/>
                </a:solidFill>
              </a:defRPr>
            </a:pPr>
            <a:r>
              <a:t>2.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Modular, Enterprise-Grade Design:</a:t>
            </a:r>
          </a:p>
          <a:p>
            <a:pPr>
              <a:spcAft>
                <a:spcPts val="1200"/>
              </a:spcAft>
              <a:defRPr sz="1600"/>
            </a:pPr>
            <a:r>
              <a:t>• Presentation Layer: LMS &amp; H-Smart Widgets.</a:t>
            </a:r>
          </a:p>
          <a:p>
            <a:pPr>
              <a:spcAft>
                <a:spcPts val="1200"/>
              </a:spcAft>
              <a:defRPr sz="1600"/>
            </a:pPr>
            <a:r>
              <a:t>• Gateway Layer: SSO Auth &amp; Rate Limiting.</a:t>
            </a:r>
          </a:p>
          <a:p>
            <a:pPr>
              <a:spcAft>
                <a:spcPts val="1200"/>
              </a:spcAft>
              <a:defRPr sz="1600"/>
            </a:pPr>
            <a:r>
              <a:t>• Intelligence Layer: Orchestrator &amp; Agents.</a:t>
            </a:r>
          </a:p>
          <a:p>
            <a:pPr>
              <a:spcAft>
                <a:spcPts val="1200"/>
              </a:spcAft>
              <a:defRPr sz="1600"/>
            </a:pPr>
            <a:r>
              <a:t>• Connector Layer: LMS API, Web Search.</a:t>
            </a:r>
          </a:p>
          <a:p>
            <a:pPr>
              <a:spcAft>
                <a:spcPts val="1200"/>
              </a:spcAft>
              <a:defRPr sz="1600"/>
            </a:pPr>
            <a:r>
              <a:t>• Data Layer: Vector Store &amp; Cache.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41148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[PASTE ARCHITECTURE DIAGRAM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C5F"/>
                </a:solidFill>
              </a:defRPr>
            </a:pPr>
            <a:r>
              <a:t>3. Data Flow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How a query is processed:</a:t>
            </a:r>
          </a:p>
          <a:p>
            <a:pPr>
              <a:spcAft>
                <a:spcPts val="1200"/>
              </a:spcAft>
              <a:defRPr sz="1600"/>
            </a:pPr>
            <a:r>
              <a:t>1. Query Understanding: Detect intent (e.g., 'Compare').</a:t>
            </a:r>
          </a:p>
          <a:p>
            <a:pPr>
              <a:spcAft>
                <a:spcPts val="1200"/>
              </a:spcAft>
              <a:defRPr sz="1600"/>
            </a:pPr>
            <a:r>
              <a:t>2. Parallel Retrieval: Fetch internal Hyundai data + External Web data.</a:t>
            </a:r>
          </a:p>
          <a:p>
            <a:pPr>
              <a:spcAft>
                <a:spcPts val="1200"/>
              </a:spcAft>
              <a:defRPr sz="1600"/>
            </a:pPr>
            <a:r>
              <a:t>3. Data Merger: Normalize prices and specs.</a:t>
            </a:r>
          </a:p>
          <a:p>
            <a:pPr>
              <a:spcAft>
                <a:spcPts val="1200"/>
              </a:spcAft>
              <a:defRPr sz="1600"/>
            </a:pPr>
            <a:r>
              <a:t>4. Intelligent Response: Highlight Hyundai USPs.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41148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[PASTE DATA FLOW DIAGRAM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002C5F"/>
                </a:solidFill>
              </a:defRPr>
            </a:pPr>
            <a:r>
              <a:t>4. Competitive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Real-time advantage over static PDFs: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Data Source: Live web search + cached competitor specs.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Comparison Engine: Automatically normalizes features.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USP Highlighting: Identifies where Hyundai wins.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Output: Generates clear comparison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C5F"/>
                </a:solidFill>
              </a:defRPr>
            </a:pPr>
            <a:r>
              <a:t>5. Vernacular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/>
            </a:pPr>
            <a:r>
              <a:t>Native support for 6 Languages:</a:t>
            </a:r>
          </a:p>
          <a:p>
            <a:pPr>
              <a:spcAft>
                <a:spcPts val="1200"/>
              </a:spcAft>
              <a:defRPr sz="1600"/>
            </a:pPr>
            <a:r>
              <a:t>• Hindi, Tamil, Telugu, Kannada, Malayalam, English.</a:t>
            </a:r>
          </a:p>
          <a:p>
            <a:pPr>
              <a:spcAft>
                <a:spcPts val="1200"/>
              </a:spcAft>
              <a:defRPr sz="1600"/>
            </a:pPr>
            <a:r>
              <a:t>• Process: Speech-to-Text -&gt; Translate -&gt; Process -&gt; Text-to-Speech.</a:t>
            </a:r>
          </a:p>
          <a:p>
            <a:pPr>
              <a:spcAft>
                <a:spcPts val="1200"/>
              </a:spcAft>
              <a:defRPr sz="1600"/>
            </a:pPr>
            <a:r>
              <a:t>• Result: Consultants speak naturally in their local dialect.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371600"/>
            <a:ext cx="41148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6464"/>
                </a:solidFill>
              </a:defRPr>
            </a:pPr>
            <a:r>
              <a:t>[PASTE VERNACULAR FLOW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002C5F"/>
                </a:solidFill>
              </a:defRPr>
            </a:pPr>
            <a:r>
              <a:t>6. 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Defense-in-depth approach: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Layer 1 (Edge): DDoS protection &amp; Rate limiting.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Layer 2 (Auth): SSO Token validation &amp; Session mgmt.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Layer 3 (Data): AES-256 Encryption &amp; India data residency.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Layer 4 (Audit): Full logging of all queries for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002C5F"/>
                </a:solidFill>
              </a:defRPr>
            </a:pPr>
            <a:r>
              <a:t>7. Analytics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Dashboard for HO and Regional Offices: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Track top queries (e.g., 'What is ADAS?').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Identify training gaps in specific regions.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Monitor usage adoption per dealership.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Exportable reports for strategy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>
                <a:solidFill>
                  <a:srgbClr val="002C5F"/>
                </a:solidFill>
              </a:defRPr>
            </a:pPr>
            <a:r>
              <a:t>8. Why Invincible Ocean?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Production-Ready: Built on our proven automotive AI infrastructure.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Multi-Agent Expertise: Specialized agents for distinct sales tasks.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Non-Invasive: Simple iFrame integration (No major IT changes).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Speed: 15-week delivery timeline.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Scalability: Designed for 10,000+ concurrent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D2FF"/>
                </a:solidFill>
              </a:defRPr>
            </a:pPr>
            <a:r>
              <a:t>Invincible Ocean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